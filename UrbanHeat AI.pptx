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Google Sans" panose="020B0604020202020204" charset="0"/>
      <p:regular r:id="rId13"/>
      <p:bold r:id="rId14"/>
      <p:italic r:id="rId15"/>
      <p:boldItalic r:id="rId16"/>
    </p:embeddedFont>
    <p:embeddedFont>
      <p:font typeface="Google Sans Medium" panose="020B060402020202020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B6545F4-6129-49FB-BA27-22CFA88822CC}">
  <a:tblStyle styleId="{DB6545F4-6129-49FB-BA27-22CFA88822CC}"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820" y="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salmanfawaz@gmail.com" userId="8fb5187deb223b77" providerId="LiveId" clId="{3E027A37-8D64-49BD-8E92-47BDD98107E8}"/>
    <pc:docChg chg="modSld">
      <pc:chgData name="mohammedsalmanfawaz@gmail.com" userId="8fb5187deb223b77" providerId="LiveId" clId="{3E027A37-8D64-49BD-8E92-47BDD98107E8}" dt="2026-06-29T15:03:15.820" v="2" actId="20577"/>
      <pc:docMkLst>
        <pc:docMk/>
      </pc:docMkLst>
      <pc:sldChg chg="modSp mod">
        <pc:chgData name="mohammedsalmanfawaz@gmail.com" userId="8fb5187deb223b77" providerId="LiveId" clId="{3E027A37-8D64-49BD-8E92-47BDD98107E8}" dt="2026-06-29T15:03:15.820" v="2" actId="20577"/>
        <pc:sldMkLst>
          <pc:docMk/>
          <pc:sldMk cId="0" sldId="258"/>
        </pc:sldMkLst>
        <pc:spChg chg="mod">
          <ac:chgData name="mohammedsalmanfawaz@gmail.com" userId="8fb5187deb223b77" providerId="LiveId" clId="{3E027A37-8D64-49BD-8E92-47BDD98107E8}" dt="2026-06-29T15:03:15.820" v="2" actId="20577"/>
          <ac:spMkLst>
            <pc:docMk/>
            <pc:sldMk cId="0" sldId="258"/>
            <ac:spMk id="3" creationId="{E7377990-8361-3F9A-CF48-C43A1B569C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3" name="Google Shape;13;p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3535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55" name="Google Shape;55;p13"/>
          <p:cNvSpPr txBox="1"/>
          <p:nvPr/>
        </p:nvSpPr>
        <p:spPr>
          <a:xfrm>
            <a:off x="294675" y="3319373"/>
            <a:ext cx="8520600" cy="443700"/>
          </a:xfrm>
          <a:prstGeom prst="rect">
            <a:avLst/>
          </a:prstGeom>
          <a:noFill/>
          <a:ln>
            <a:noFill/>
          </a:ln>
        </p:spPr>
        <p:txBody>
          <a:bodyPr spcFirstLastPara="1" wrap="square" lIns="91425" tIns="91425" rIns="91425" bIns="91425" anchor="t" anchorCtr="0">
            <a:normAutofit/>
          </a:bodyPr>
          <a:lstStyle/>
          <a:p>
            <a:pPr marL="0" marR="0" lvl="0" indent="0" algn="l" rtl="0">
              <a:lnSpc>
                <a:spcPct val="80000"/>
              </a:lnSpc>
              <a:spcBef>
                <a:spcPts val="0"/>
              </a:spcBef>
              <a:spcAft>
                <a:spcPts val="0"/>
              </a:spcAft>
              <a:buClr>
                <a:srgbClr val="000000"/>
              </a:buClr>
              <a:buSzPts val="1600"/>
              <a:buFont typeface="Arial"/>
              <a:buNone/>
            </a:pPr>
            <a:r>
              <a:rPr lang="en-GB" sz="1600" b="0" i="0" u="none" strike="noStrike" cap="none" dirty="0">
                <a:solidFill>
                  <a:srgbClr val="202729"/>
                </a:solidFill>
                <a:latin typeface="Google Sans Medium"/>
                <a:ea typeface="Google Sans Medium"/>
                <a:cs typeface="Google Sans Medium"/>
                <a:sym typeface="Google Sans Medium"/>
              </a:rPr>
              <a:t>Team Name :</a:t>
            </a:r>
            <a:r>
              <a:rPr lang="en-GB" sz="1600" dirty="0">
                <a:solidFill>
                  <a:srgbClr val="202729"/>
                </a:solidFill>
                <a:latin typeface="Google Sans Medium"/>
                <a:ea typeface="Google Sans Medium"/>
                <a:cs typeface="Google Sans Medium"/>
                <a:sym typeface="Google Sans Medium"/>
              </a:rPr>
              <a:t> Dinar</a:t>
            </a:r>
            <a:endParaRPr sz="1600" b="0" i="0" u="none" strike="noStrike" cap="none" dirty="0">
              <a:solidFill>
                <a:srgbClr val="202729"/>
              </a:solidFill>
              <a:latin typeface="Google Sans Medium"/>
              <a:ea typeface="Google Sans Medium"/>
              <a:cs typeface="Google Sans Medium"/>
              <a:sym typeface="Google Sans Medium"/>
            </a:endParaRPr>
          </a:p>
        </p:txBody>
      </p:sp>
      <p:sp>
        <p:nvSpPr>
          <p:cNvPr id="56" name="Google Shape;56;p13"/>
          <p:cNvSpPr txBox="1"/>
          <p:nvPr/>
        </p:nvSpPr>
        <p:spPr>
          <a:xfrm>
            <a:off x="333372" y="4269209"/>
            <a:ext cx="8395958" cy="494177"/>
          </a:xfrm>
          <a:prstGeom prst="rect">
            <a:avLst/>
          </a:prstGeom>
          <a:noFill/>
          <a:ln>
            <a:noFill/>
          </a:ln>
        </p:spPr>
        <p:txBody>
          <a:bodyPr spcFirstLastPara="1" wrap="square" lIns="91425" tIns="91425" rIns="91425" bIns="91425" anchor="t" anchorCtr="0">
            <a:normAutofit/>
          </a:bodyPr>
          <a:lstStyle/>
          <a:p>
            <a:pPr lvl="0">
              <a:lnSpc>
                <a:spcPct val="70000"/>
              </a:lnSpc>
              <a:buSzPts val="1600"/>
            </a:pPr>
            <a:r>
              <a:rPr lang="en-GB" sz="1600" b="0" i="0" u="none" strike="noStrike" cap="none" dirty="0">
                <a:solidFill>
                  <a:srgbClr val="202729"/>
                </a:solidFill>
                <a:latin typeface="Google Sans Medium"/>
                <a:ea typeface="Google Sans Medium"/>
                <a:cs typeface="Google Sans Medium"/>
                <a:sym typeface="Google Sans Medium"/>
              </a:rPr>
              <a:t>Problem Statement : Optimizing Urban Heat Mitigation and Cooling Strategies Via AI&amp;ML</a:t>
            </a:r>
            <a:endParaRPr sz="1600" b="0" i="0" u="none" strike="noStrike" cap="none" dirty="0">
              <a:solidFill>
                <a:srgbClr val="202729"/>
              </a:solidFill>
              <a:latin typeface="Google Sans Medium" panose="020B0604020202020204" charset="0"/>
              <a:ea typeface="Google Sans Medium" panose="020B0604020202020204" charset="0"/>
              <a:cs typeface="Google Sans Medium" panose="020B0604020202020204" charset="0"/>
              <a:sym typeface="Google Sans Medium"/>
            </a:endParaRPr>
          </a:p>
        </p:txBody>
      </p:sp>
      <p:sp>
        <p:nvSpPr>
          <p:cNvPr id="57" name="Google Shape;57;p13"/>
          <p:cNvSpPr txBox="1"/>
          <p:nvPr/>
        </p:nvSpPr>
        <p:spPr>
          <a:xfrm>
            <a:off x="310163" y="3794133"/>
            <a:ext cx="8520600" cy="443700"/>
          </a:xfrm>
          <a:prstGeom prst="rect">
            <a:avLst/>
          </a:prstGeom>
          <a:noFill/>
          <a:ln>
            <a:noFill/>
          </a:ln>
        </p:spPr>
        <p:txBody>
          <a:bodyPr spcFirstLastPara="1" wrap="square" lIns="91425" tIns="91425" rIns="91425" bIns="91425" anchor="t" anchorCtr="0">
            <a:normAutofit/>
          </a:bodyPr>
          <a:lstStyle/>
          <a:p>
            <a:pPr marL="0" marR="0" lvl="0" indent="0" algn="l" rtl="0">
              <a:lnSpc>
                <a:spcPct val="80000"/>
              </a:lnSpc>
              <a:spcBef>
                <a:spcPts val="0"/>
              </a:spcBef>
              <a:spcAft>
                <a:spcPts val="0"/>
              </a:spcAft>
              <a:buClr>
                <a:srgbClr val="000000"/>
              </a:buClr>
              <a:buSzPts val="1600"/>
              <a:buFont typeface="Arial"/>
              <a:buNone/>
            </a:pPr>
            <a:r>
              <a:rPr lang="en-GB" sz="1600" b="0" i="0" u="none" strike="noStrike" cap="none" dirty="0">
                <a:solidFill>
                  <a:srgbClr val="202729"/>
                </a:solidFill>
                <a:latin typeface="Google Sans Medium"/>
                <a:ea typeface="Google Sans Medium"/>
                <a:cs typeface="Google Sans Medium"/>
                <a:sym typeface="Google Sans Medium"/>
              </a:rPr>
              <a:t>Team Leader Name : Mohammed Salman Fawaz</a:t>
            </a:r>
            <a:endParaRPr sz="1600" b="0" i="0" u="none" strike="noStrike" cap="none" dirty="0">
              <a:solidFill>
                <a:srgbClr val="202729"/>
              </a:solidFill>
              <a:latin typeface="Google Sans Medium"/>
              <a:ea typeface="Google Sans Medium"/>
              <a:cs typeface="Google Sans Medium"/>
              <a:sym typeface="Google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3370500" y="702175"/>
            <a:ext cx="2403000" cy="4659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200"/>
              </a:spcAft>
              <a:buClr>
                <a:srgbClr val="000000"/>
              </a:buClr>
              <a:buSzPts val="1018"/>
              <a:buFont typeface="Arial"/>
              <a:buNone/>
            </a:pPr>
            <a:r>
              <a:rPr lang="en-GB" sz="2050" b="0" i="0" u="none" strike="noStrike" cap="none">
                <a:solidFill>
                  <a:schemeClr val="dk1"/>
                </a:solidFill>
                <a:latin typeface="Google Sans Medium"/>
                <a:ea typeface="Google Sans Medium"/>
                <a:cs typeface="Google Sans Medium"/>
                <a:sym typeface="Google Sans Medium"/>
              </a:rPr>
              <a:t>Team Members</a:t>
            </a:r>
            <a:endParaRPr sz="2050" b="0" i="0" u="none" strike="noStrike" cap="none">
              <a:solidFill>
                <a:schemeClr val="dk1"/>
              </a:solidFill>
              <a:latin typeface="Google Sans Medium"/>
              <a:ea typeface="Google Sans Medium"/>
              <a:cs typeface="Google Sans Medium"/>
              <a:sym typeface="Google Sans Medium"/>
            </a:endParaRPr>
          </a:p>
        </p:txBody>
      </p:sp>
      <p:graphicFrame>
        <p:nvGraphicFramePr>
          <p:cNvPr id="64" name="Google Shape;64;p14"/>
          <p:cNvGraphicFramePr/>
          <p:nvPr>
            <p:extLst>
              <p:ext uri="{D42A27DB-BD31-4B8C-83A1-F6EECF244321}">
                <p14:modId xmlns:p14="http://schemas.microsoft.com/office/powerpoint/2010/main" val="1371845968"/>
              </p:ext>
            </p:extLst>
          </p:nvPr>
        </p:nvGraphicFramePr>
        <p:xfrm>
          <a:off x="952500" y="1329450"/>
          <a:ext cx="7239000" cy="3589950"/>
        </p:xfrm>
        <a:graphic>
          <a:graphicData uri="http://schemas.openxmlformats.org/drawingml/2006/table">
            <a:tbl>
              <a:tblPr>
                <a:noFill/>
                <a:tableStyleId>{DB6545F4-6129-49FB-BA27-22CFA88822CC}</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794975">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dirty="0"/>
                        <a:t>Team Leader: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GB" sz="1400" u="none" strike="noStrike" cap="none" dirty="0"/>
                        <a:t>Name: Mohammed Salman Fawaz</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GB" sz="1400" u="none" strike="noStrike" cap="none" dirty="0"/>
                        <a:t>College: Vaagdevi College Of Engineering</a:t>
                      </a:r>
                      <a:endParaRPr sz="1400" u="none" strike="noStrike" cap="none"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Team Member-1: </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Name: Abdul Raqib Nasif</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College: Vaagdevi College Of Engineering</a:t>
                      </a:r>
                      <a:endParaRPr sz="1400" u="none" strike="noStrike" cap="none"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794975">
                <a:tc>
                  <a:txBody>
                    <a:bodyPr/>
                    <a:lstStyle/>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Team Member-2: </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Name: Mohammed Bilad Rayan</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College: Vaagdevi College Of Engineering</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endParaRPr sz="1400" u="none" strike="noStrike" cap="none"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Team Member-3: </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Name: Mohammad Nabeel Uz Zama</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GB" sz="1400" u="none" strike="noStrike" cap="none" dirty="0">
                          <a:solidFill>
                            <a:schemeClr val="dk1"/>
                          </a:solidFill>
                        </a:rPr>
                        <a:t>College: Vaagdevi College Of Engineering</a:t>
                      </a:r>
                      <a:endParaRPr sz="140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Arial"/>
                        <a:buNone/>
                      </a:pPr>
                      <a:endParaRPr sz="1400" u="none" strike="noStrike" cap="none"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0" name="Google Shape;70;p15"/>
          <p:cNvSpPr txBox="1"/>
          <p:nvPr/>
        </p:nvSpPr>
        <p:spPr>
          <a:xfrm>
            <a:off x="617616" y="772985"/>
            <a:ext cx="7569300" cy="465900"/>
          </a:xfrm>
          <a:prstGeom prst="rect">
            <a:avLst/>
          </a:prstGeom>
          <a:noFill/>
          <a:ln>
            <a:noFill/>
          </a:ln>
        </p:spPr>
        <p:txBody>
          <a:bodyPr spcFirstLastPara="1" wrap="square" lIns="91425" tIns="91425" rIns="91425" bIns="91425" anchor="t" anchorCtr="0">
            <a:normAutofit fontScale="25000" lnSpcReduction="20000"/>
          </a:bodyPr>
          <a:lstStyle/>
          <a:p>
            <a:r>
              <a:rPr lang="en-GB" sz="6450" b="0" i="0" u="none" strike="noStrike" cap="none" dirty="0">
                <a:solidFill>
                  <a:schemeClr val="dk2"/>
                </a:solidFill>
                <a:latin typeface="Google Sans"/>
                <a:ea typeface="Google Sans"/>
                <a:cs typeface="Google Sans"/>
                <a:sym typeface="Google Sans"/>
              </a:rPr>
              <a:t>How different is it from any of the other existing ideas?</a:t>
            </a:r>
            <a:br>
              <a:rPr lang="en-GB" sz="6450" b="0" i="0" u="none" strike="noStrike" cap="none" dirty="0">
                <a:solidFill>
                  <a:schemeClr val="dk2"/>
                </a:solidFill>
                <a:latin typeface="Google Sans"/>
                <a:ea typeface="Google Sans"/>
                <a:cs typeface="Google Sans"/>
                <a:sym typeface="Google Sans"/>
              </a:rPr>
            </a:br>
            <a:br>
              <a:rPr lang="en-GB" sz="6450" b="0" i="0" u="none" strike="noStrike" cap="none" dirty="0">
                <a:solidFill>
                  <a:schemeClr val="dk2"/>
                </a:solidFill>
                <a:latin typeface="Google Sans"/>
                <a:ea typeface="Google Sans"/>
                <a:cs typeface="Google Sans"/>
                <a:sym typeface="Google Sans"/>
              </a:rPr>
            </a:br>
            <a:endParaRPr sz="1650" b="0" i="0" u="none" strike="noStrike" cap="none" dirty="0">
              <a:solidFill>
                <a:schemeClr val="dk1"/>
              </a:solidFill>
              <a:latin typeface="Google Sans"/>
              <a:ea typeface="Google Sans"/>
              <a:cs typeface="Google Sans"/>
              <a:sym typeface="Google Sans"/>
            </a:endParaRPr>
          </a:p>
        </p:txBody>
      </p:sp>
      <p:sp>
        <p:nvSpPr>
          <p:cNvPr id="3" name="TextBox 2">
            <a:extLst>
              <a:ext uri="{FF2B5EF4-FFF2-40B4-BE49-F238E27FC236}">
                <a16:creationId xmlns:a16="http://schemas.microsoft.com/office/drawing/2014/main" id="{E7377990-8361-3F9A-CF48-C43A1B569C97}"/>
              </a:ext>
            </a:extLst>
          </p:cNvPr>
          <p:cNvSpPr txBox="1"/>
          <p:nvPr/>
        </p:nvSpPr>
        <p:spPr>
          <a:xfrm>
            <a:off x="617616" y="1148175"/>
            <a:ext cx="7569300" cy="3231654"/>
          </a:xfrm>
          <a:prstGeom prst="rect">
            <a:avLst/>
          </a:prstGeom>
          <a:noFill/>
        </p:spPr>
        <p:txBody>
          <a:bodyPr wrap="square">
            <a:spAutoFit/>
          </a:bodyPr>
          <a:lstStyle/>
          <a:p>
            <a:pPr>
              <a:buNone/>
            </a:pPr>
            <a:r>
              <a:rPr lang="en-US" sz="1200" i="1" dirty="0"/>
              <a:t>Current Urban Heat Island studies primarily focus on identifying hotspots or predicting Land Surface Temperature using statistical or machine learning techniques. While these approaches provide valuable observations, they rarely support decision-makers in selecting scientifically optimized mitigation strategies.</a:t>
            </a:r>
          </a:p>
          <a:p>
            <a:pPr>
              <a:buNone/>
            </a:pPr>
            <a:r>
              <a:rPr lang="en-US" sz="1200" i="1" dirty="0" err="1"/>
              <a:t>UrbanHeat</a:t>
            </a:r>
            <a:r>
              <a:rPr lang="en-US" sz="1200" i="1" dirty="0"/>
              <a:t> Doctor AI extends beyond conventional heat mapping by introducing a complete Geospatial Decision Intelligence Framework.</a:t>
            </a:r>
          </a:p>
          <a:p>
            <a:pPr>
              <a:buNone/>
            </a:pPr>
            <a:endParaRPr lang="en-US" sz="1200" i="1" dirty="0"/>
          </a:p>
          <a:p>
            <a:pPr>
              <a:buNone/>
            </a:pPr>
            <a:r>
              <a:rPr lang="en-US" sz="1200" i="1" dirty="0"/>
              <a:t>The proposed platform integrates satellite remote sensing, physics-informed artificial intelligence, explainable machine learning, and optimization algorithms to not only identify heat hotspots but also diagnose their underlying causes, simulate multiple cooling interventions, and recommend the most effective solution based on environmental impact, implementation cost, and expected temperature </a:t>
            </a:r>
            <a:r>
              <a:rPr lang="en-US" sz="1200" i="1"/>
              <a:t>reduction.</a:t>
            </a:r>
          </a:p>
          <a:p>
            <a:pPr>
              <a:buNone/>
            </a:pPr>
            <a:endParaRPr lang="en-US" sz="1200" i="1" dirty="0"/>
          </a:p>
          <a:p>
            <a:pPr>
              <a:buNone/>
            </a:pPr>
            <a:r>
              <a:rPr lang="en-US" sz="1200" i="1" dirty="0"/>
              <a:t>Unlike existing black-box AI models, the proposed framework embeds physical constraints governing urban energy balance, ensuring scientifically consistent predictions that remain interpretable and reliable across diverse urban environments.</a:t>
            </a:r>
          </a:p>
          <a:p>
            <a:pPr>
              <a:buNone/>
            </a:pPr>
            <a:endParaRPr lang="en-US" sz="1200" i="1" dirty="0"/>
          </a:p>
          <a:p>
            <a:pPr>
              <a:buNone/>
            </a:pPr>
            <a:r>
              <a:rPr lang="en-US" sz="1200" i="1" dirty="0"/>
              <a:t>The system therefore transforms satellite observations into actionable climate intelligence for sustainable urban planning.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6"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6" name="Google Shape;76;p16"/>
          <p:cNvSpPr txBox="1"/>
          <p:nvPr/>
        </p:nvSpPr>
        <p:spPr>
          <a:xfrm>
            <a:off x="439290" y="778488"/>
            <a:ext cx="7569300" cy="3926417"/>
          </a:xfrm>
          <a:prstGeom prst="rect">
            <a:avLst/>
          </a:prstGeom>
          <a:noFill/>
          <a:ln>
            <a:noFill/>
          </a:ln>
        </p:spPr>
        <p:txBody>
          <a:bodyPr spcFirstLastPara="1" wrap="square" lIns="91425" tIns="91425" rIns="91425" bIns="91425" anchor="t" anchorCtr="0">
            <a:normAutofit fontScale="92500" lnSpcReduction="10000"/>
          </a:bodyPr>
          <a:lstStyle/>
          <a:p>
            <a:pPr marL="0" marR="0" lvl="0" indent="0" algn="l" rtl="0">
              <a:lnSpc>
                <a:spcPct val="150000"/>
              </a:lnSpc>
              <a:spcBef>
                <a:spcPts val="0"/>
              </a:spcBef>
              <a:spcAft>
                <a:spcPts val="0"/>
              </a:spcAft>
              <a:buClr>
                <a:srgbClr val="000000"/>
              </a:buClr>
              <a:buSzPts val="1600"/>
              <a:buFont typeface="Arial"/>
              <a:buNone/>
            </a:pPr>
            <a:r>
              <a:rPr lang="en-GB" sz="1600" b="0" i="0" u="none" strike="noStrike" cap="none" dirty="0">
                <a:solidFill>
                  <a:schemeClr val="dk1"/>
                </a:solidFill>
                <a:latin typeface="Google Sans Medium"/>
                <a:ea typeface="Google Sans Medium"/>
                <a:cs typeface="Google Sans Medium"/>
                <a:sym typeface="Google Sans Medium"/>
              </a:rPr>
              <a:t>List of features offered by the solution</a:t>
            </a:r>
            <a:br>
              <a:rPr lang="en-GB" sz="1600" b="0" i="0" u="none" strike="noStrike" cap="none" dirty="0">
                <a:solidFill>
                  <a:schemeClr val="dk1"/>
                </a:solidFill>
                <a:latin typeface="Google Sans Medium"/>
                <a:ea typeface="Google Sans Medium"/>
                <a:cs typeface="Google Sans Medium"/>
                <a:sym typeface="Google Sans Medium"/>
              </a:rPr>
            </a:br>
            <a:endParaRPr lang="en-US" sz="1600" dirty="0">
              <a:solidFill>
                <a:schemeClr val="dk2"/>
              </a:solidFill>
              <a:latin typeface="Google Sans"/>
              <a:ea typeface="Google Sans"/>
              <a:cs typeface="Google Sans"/>
              <a:sym typeface="Google Sans"/>
            </a:endParaRPr>
          </a:p>
          <a:p>
            <a:pPr marL="285750" indent="-285750">
              <a:buFont typeface="Arial" panose="020B0604020202020204" pitchFamily="34" charset="0"/>
              <a:buChar char="•"/>
            </a:pPr>
            <a:r>
              <a:rPr lang="en-US" sz="1300" b="1" i="1" dirty="0"/>
              <a:t>Diurnal Radiometric Ingestion Module:</a:t>
            </a:r>
            <a:r>
              <a:rPr lang="en-US" sz="1300" i="1" dirty="0"/>
              <a:t> </a:t>
            </a:r>
            <a:r>
              <a:rPr lang="en-US" sz="1300" dirty="0"/>
              <a:t>Cross-calibrates daytime land surface temperatures with nighttime thermal emissions to monitor the active heat retention curves of concrete urban layouts.</a:t>
            </a:r>
            <a:br>
              <a:rPr lang="en-US" sz="1300" dirty="0"/>
            </a:br>
            <a:endParaRPr lang="en-US" sz="1300" dirty="0"/>
          </a:p>
          <a:p>
            <a:pPr marL="285750" indent="-285750">
              <a:buFont typeface="Arial" panose="020B0604020202020204" pitchFamily="34" charset="0"/>
              <a:buChar char="•"/>
            </a:pPr>
            <a:r>
              <a:rPr lang="en-US" sz="1300" b="1" i="1" dirty="0"/>
              <a:t>Radiometric Driver Attribution Matrix:</a:t>
            </a:r>
            <a:r>
              <a:rPr lang="en-US" sz="1300" i="1" dirty="0"/>
              <a:t> </a:t>
            </a:r>
            <a:r>
              <a:rPr lang="en-US" sz="1300" dirty="0"/>
              <a:t>Uses Explainable AI (via SHAP feature weighting) to isolate and rank exactly what is causing a localized hotspot—calculating the precise percentage contribution of building mass, vegetation loss, or atmospheric moisture gaps.</a:t>
            </a:r>
            <a:br>
              <a:rPr lang="en-US" sz="1300" dirty="0"/>
            </a:br>
            <a:endParaRPr lang="en-US" sz="1300" dirty="0"/>
          </a:p>
          <a:p>
            <a:pPr marL="285750" indent="-285750">
              <a:buFont typeface="Arial" panose="020B0604020202020204" pitchFamily="34" charset="0"/>
              <a:buChar char="•"/>
            </a:pPr>
            <a:r>
              <a:rPr lang="en-US" sz="1300" b="1" i="1" dirty="0"/>
              <a:t>Thermodynamic Loss Validation Core:</a:t>
            </a:r>
            <a:r>
              <a:rPr lang="en-US" sz="1300" i="1" dirty="0"/>
              <a:t> </a:t>
            </a:r>
            <a:r>
              <a:rPr lang="en-US" sz="1300" dirty="0"/>
              <a:t>A testing pipeline that monitors the AI's predictions against physical energy balance equations to eliminate data noise and ensure stable mathematical scaling across different cities.</a:t>
            </a:r>
            <a:br>
              <a:rPr lang="en-US" sz="1300" dirty="0"/>
            </a:br>
            <a:endParaRPr lang="en-US" sz="1300" dirty="0"/>
          </a:p>
          <a:p>
            <a:pPr marL="285750" indent="-285750">
              <a:buFont typeface="Arial" panose="020B0604020202020204" pitchFamily="34" charset="0"/>
              <a:buChar char="•"/>
            </a:pPr>
            <a:r>
              <a:rPr lang="en-US" sz="1300" b="1" i="1" dirty="0"/>
              <a:t>Macro-Zonal Policy Sandbox:</a:t>
            </a:r>
            <a:r>
              <a:rPr lang="en-US" sz="1300" i="1" dirty="0"/>
              <a:t> </a:t>
            </a:r>
            <a:r>
              <a:rPr lang="en-US" sz="1300" dirty="0"/>
              <a:t>An interactive canvas where planners can adjust regional sliders (e.g., changing surface reflectivity from $0.2 \</a:t>
            </a:r>
            <a:r>
              <a:rPr lang="en-US" sz="1300" dirty="0" err="1"/>
              <a:t>rightarrow</a:t>
            </a:r>
            <a:r>
              <a:rPr lang="en-US" sz="1300" dirty="0"/>
              <a:t> 0.7$ or expanding tree canopies) to simulate city-wide microclimate responses.</a:t>
            </a:r>
            <a:br>
              <a:rPr lang="en-US" sz="1300" dirty="0"/>
            </a:br>
            <a:endParaRPr lang="en-US" sz="1300" i="1" dirty="0"/>
          </a:p>
          <a:p>
            <a:pPr marL="285750" indent="-285750">
              <a:buFont typeface="Arial" panose="020B0604020202020204" pitchFamily="34" charset="0"/>
              <a:buChar char="•"/>
            </a:pPr>
            <a:r>
              <a:rPr lang="en-US" sz="1300" b="1" i="1" dirty="0"/>
              <a:t>Antariksh Automated Proposal Compiler:</a:t>
            </a:r>
            <a:r>
              <a:rPr lang="en-US" sz="1300" i="1" dirty="0"/>
              <a:t> </a:t>
            </a:r>
            <a:r>
              <a:rPr lang="en-US" sz="1300" dirty="0"/>
              <a:t>A formatting engine that instantly generates production-ready, coordinate-specific structural recommendations mapped to municipal zones.</a:t>
            </a:r>
          </a:p>
          <a:p>
            <a:pPr marL="0" marR="0" lvl="0" indent="0" algn="l" rtl="0">
              <a:lnSpc>
                <a:spcPct val="115000"/>
              </a:lnSpc>
              <a:spcBef>
                <a:spcPts val="1200"/>
              </a:spcBef>
              <a:spcAft>
                <a:spcPts val="1200"/>
              </a:spcAft>
              <a:buClr>
                <a:srgbClr val="000000"/>
              </a:buClr>
              <a:buSzPts val="1600"/>
              <a:buFont typeface="Arial"/>
              <a:buNone/>
            </a:pPr>
            <a:endParaRPr lang="en-US" sz="1600" b="0" i="0" u="none" strike="noStrike" cap="none" dirty="0">
              <a:solidFill>
                <a:schemeClr val="dk2"/>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7"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2" name="Google Shape;82;p17"/>
          <p:cNvSpPr txBox="1"/>
          <p:nvPr/>
        </p:nvSpPr>
        <p:spPr>
          <a:xfrm>
            <a:off x="311700" y="863550"/>
            <a:ext cx="7569300" cy="25701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Clr>
                <a:srgbClr val="000000"/>
              </a:buClr>
              <a:buSzPts val="1600"/>
              <a:buFont typeface="Arial"/>
              <a:buNone/>
            </a:pPr>
            <a:r>
              <a:rPr lang="en-GB" sz="1600" b="0" i="0" u="none" strike="noStrike" cap="none" dirty="0">
                <a:solidFill>
                  <a:schemeClr val="dk1"/>
                </a:solidFill>
                <a:latin typeface="Google Sans Medium"/>
                <a:ea typeface="Google Sans Medium"/>
                <a:cs typeface="Google Sans Medium"/>
                <a:sym typeface="Google Sans Medium"/>
              </a:rPr>
              <a:t>Process flow diagram or Use-case diagram</a:t>
            </a:r>
            <a:endParaRPr sz="1600" b="0" i="0" u="none" strike="noStrike" cap="none" dirty="0">
              <a:solidFill>
                <a:schemeClr val="dk1"/>
              </a:solidFill>
              <a:latin typeface="Google Sans Medium"/>
              <a:ea typeface="Google Sans Medium"/>
              <a:cs typeface="Google Sans Medium"/>
              <a:sym typeface="Google Sans Medium"/>
            </a:endParaRPr>
          </a:p>
          <a:p>
            <a:pPr marL="0" marR="0" lvl="0" indent="0" algn="l" rtl="0">
              <a:lnSpc>
                <a:spcPct val="115000"/>
              </a:lnSpc>
              <a:spcBef>
                <a:spcPts val="1200"/>
              </a:spcBef>
              <a:spcAft>
                <a:spcPts val="1200"/>
              </a:spcAft>
              <a:buClr>
                <a:srgbClr val="000000"/>
              </a:buClr>
              <a:buSzPts val="1600"/>
              <a:buFont typeface="Arial"/>
              <a:buNone/>
            </a:pPr>
            <a:r>
              <a:rPr lang="en-GB" sz="1600" b="0" i="0" u="none" strike="noStrike" cap="none" dirty="0">
                <a:solidFill>
                  <a:schemeClr val="dk2"/>
                </a:solidFill>
                <a:latin typeface="Google Sans"/>
                <a:ea typeface="Google Sans"/>
                <a:cs typeface="Google Sans"/>
                <a:sym typeface="Google Sans"/>
              </a:rPr>
              <a:t>.</a:t>
            </a:r>
            <a:endParaRPr sz="1600" b="0" i="0" u="none" strike="noStrike" cap="none" dirty="0">
              <a:solidFill>
                <a:schemeClr val="dk2"/>
              </a:solidFill>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7AA28DAA-850E-560F-9874-2E675FBDD309}"/>
              </a:ext>
            </a:extLst>
          </p:cNvPr>
          <p:cNvPicPr>
            <a:picLocks noChangeAspect="1"/>
          </p:cNvPicPr>
          <p:nvPr/>
        </p:nvPicPr>
        <p:blipFill>
          <a:blip r:embed="rId4"/>
          <a:stretch>
            <a:fillRect/>
          </a:stretch>
        </p:blipFill>
        <p:spPr>
          <a:xfrm>
            <a:off x="1564228" y="1397128"/>
            <a:ext cx="5421950" cy="29574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8"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8" name="Google Shape;88;p18"/>
          <p:cNvSpPr txBox="1"/>
          <p:nvPr/>
        </p:nvSpPr>
        <p:spPr>
          <a:xfrm>
            <a:off x="311700" y="863550"/>
            <a:ext cx="7569300" cy="25701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1200"/>
              </a:spcAft>
              <a:buClr>
                <a:srgbClr val="000000"/>
              </a:buClr>
              <a:buSzPts val="1600"/>
              <a:buFont typeface="Arial"/>
              <a:buNone/>
            </a:pPr>
            <a:r>
              <a:rPr lang="en-GB" sz="1600" b="0" i="0" u="none" strike="noStrike" cap="none">
                <a:solidFill>
                  <a:schemeClr val="dk1"/>
                </a:solidFill>
                <a:latin typeface="Google Sans Medium"/>
                <a:ea typeface="Google Sans Medium"/>
                <a:cs typeface="Google Sans Medium"/>
                <a:sym typeface="Google Sans Medium"/>
              </a:rPr>
              <a:t>Wireframes/Mock diagrams of the proposed solution (optional)</a:t>
            </a:r>
            <a:endParaRPr sz="1600" b="0" i="0" u="none" strike="noStrike" cap="none">
              <a:solidFill>
                <a:schemeClr val="dk1"/>
              </a:solidFill>
              <a:latin typeface="Google Sans Medium"/>
              <a:ea typeface="Google Sans Medium"/>
              <a:cs typeface="Google Sans Medium"/>
              <a:sym typeface="Google Sans Medium"/>
            </a:endParaRPr>
          </a:p>
        </p:txBody>
      </p:sp>
      <p:pic>
        <p:nvPicPr>
          <p:cNvPr id="5" name="Picture 4">
            <a:extLst>
              <a:ext uri="{FF2B5EF4-FFF2-40B4-BE49-F238E27FC236}">
                <a16:creationId xmlns:a16="http://schemas.microsoft.com/office/drawing/2014/main" id="{CF59604E-99E5-1480-8A35-48F80479EB5F}"/>
              </a:ext>
            </a:extLst>
          </p:cNvPr>
          <p:cNvPicPr>
            <a:picLocks noChangeAspect="1"/>
          </p:cNvPicPr>
          <p:nvPr/>
        </p:nvPicPr>
        <p:blipFill>
          <a:blip r:embed="rId4"/>
          <a:stretch>
            <a:fillRect/>
          </a:stretch>
        </p:blipFill>
        <p:spPr>
          <a:xfrm>
            <a:off x="918798" y="1312149"/>
            <a:ext cx="7083119" cy="34389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9"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4" name="Google Shape;94;p19"/>
          <p:cNvSpPr txBox="1"/>
          <p:nvPr/>
        </p:nvSpPr>
        <p:spPr>
          <a:xfrm>
            <a:off x="311700" y="863550"/>
            <a:ext cx="7569300" cy="25701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Clr>
                <a:srgbClr val="000000"/>
              </a:buClr>
              <a:buSzPts val="1600"/>
              <a:buFont typeface="Arial"/>
              <a:buNone/>
            </a:pPr>
            <a:r>
              <a:rPr lang="en-GB" sz="1600" b="0" i="0" u="none" strike="noStrike" cap="none">
                <a:solidFill>
                  <a:schemeClr val="dk1"/>
                </a:solidFill>
                <a:latin typeface="Google Sans Medium"/>
                <a:ea typeface="Google Sans Medium"/>
                <a:cs typeface="Google Sans Medium"/>
                <a:sym typeface="Google Sans Medium"/>
              </a:rPr>
              <a:t>Architecture diagram of the proposed solution</a:t>
            </a:r>
            <a:endParaRPr sz="1600" b="0" i="0" u="none" strike="noStrike" cap="none">
              <a:solidFill>
                <a:schemeClr val="dk1"/>
              </a:solidFill>
              <a:latin typeface="Google Sans Medium"/>
              <a:ea typeface="Google Sans Medium"/>
              <a:cs typeface="Google Sans Medium"/>
              <a:sym typeface="Google Sans Medium"/>
            </a:endParaRPr>
          </a:p>
          <a:p>
            <a:pPr marL="0" marR="0" lvl="0" indent="0" algn="l" rtl="0">
              <a:lnSpc>
                <a:spcPct val="115000"/>
              </a:lnSpc>
              <a:spcBef>
                <a:spcPts val="1200"/>
              </a:spcBef>
              <a:spcAft>
                <a:spcPts val="1200"/>
              </a:spcAft>
              <a:buClr>
                <a:srgbClr val="000000"/>
              </a:buClr>
              <a:buSzPts val="1600"/>
              <a:buFont typeface="Arial"/>
              <a:buNone/>
            </a:pPr>
            <a:endParaRPr sz="1600" b="0" i="0" u="none" strike="noStrike" cap="none">
              <a:solidFill>
                <a:schemeClr val="dk1"/>
              </a:solidFill>
              <a:latin typeface="Google Sans Medium"/>
              <a:ea typeface="Google Sans Medium"/>
              <a:cs typeface="Google Sans Medium"/>
              <a:sym typeface="Google Sans Medium"/>
            </a:endParaRPr>
          </a:p>
        </p:txBody>
      </p:sp>
      <p:pic>
        <p:nvPicPr>
          <p:cNvPr id="4" name="Picture 3">
            <a:extLst>
              <a:ext uri="{FF2B5EF4-FFF2-40B4-BE49-F238E27FC236}">
                <a16:creationId xmlns:a16="http://schemas.microsoft.com/office/drawing/2014/main" id="{A937F0BA-8A9B-EFC5-780C-25A02B0D717F}"/>
              </a:ext>
            </a:extLst>
          </p:cNvPr>
          <p:cNvPicPr>
            <a:picLocks noChangeAspect="1"/>
          </p:cNvPicPr>
          <p:nvPr/>
        </p:nvPicPr>
        <p:blipFill>
          <a:blip r:embed="rId4"/>
          <a:stretch>
            <a:fillRect/>
          </a:stretch>
        </p:blipFill>
        <p:spPr>
          <a:xfrm>
            <a:off x="1561214" y="1308772"/>
            <a:ext cx="6031317" cy="3289809"/>
          </a:xfrm>
          <a:prstGeom prst="rect">
            <a:avLst/>
          </a:prstGeom>
          <a:ln>
            <a:solidFill>
              <a:schemeClr val="bg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20"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0" name="Google Shape;100;p20"/>
          <p:cNvSpPr txBox="1"/>
          <p:nvPr/>
        </p:nvSpPr>
        <p:spPr>
          <a:xfrm>
            <a:off x="450948" y="798567"/>
            <a:ext cx="7569300" cy="3949814"/>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15000"/>
              </a:lnSpc>
              <a:spcBef>
                <a:spcPts val="0"/>
              </a:spcBef>
              <a:spcAft>
                <a:spcPts val="0"/>
              </a:spcAft>
              <a:buClr>
                <a:srgbClr val="000000"/>
              </a:buClr>
              <a:buSzPts val="1600"/>
              <a:buFont typeface="Arial"/>
              <a:buNone/>
            </a:pPr>
            <a:r>
              <a:rPr lang="en-GB" sz="2500" b="0" i="0" u="none" strike="noStrike" cap="none" dirty="0">
                <a:solidFill>
                  <a:schemeClr val="dk1"/>
                </a:solidFill>
                <a:latin typeface="Google Sans Medium"/>
                <a:ea typeface="Google Sans Medium"/>
                <a:cs typeface="Google Sans Medium"/>
                <a:sym typeface="Google Sans Medium"/>
              </a:rPr>
              <a:t>Technologies to be used in the solution:</a:t>
            </a:r>
          </a:p>
          <a:p>
            <a:pPr marL="0" marR="0" lvl="0" indent="0" algn="l" rtl="0">
              <a:lnSpc>
                <a:spcPct val="115000"/>
              </a:lnSpc>
              <a:spcBef>
                <a:spcPts val="0"/>
              </a:spcBef>
              <a:spcAft>
                <a:spcPts val="0"/>
              </a:spcAft>
              <a:buClr>
                <a:srgbClr val="000000"/>
              </a:buClr>
              <a:buSzPts val="1600"/>
              <a:buFont typeface="Arial"/>
              <a:buNone/>
            </a:pPr>
            <a:endParaRPr sz="2200" b="0" i="0" u="none" strike="noStrike" cap="none" dirty="0">
              <a:solidFill>
                <a:schemeClr val="dk1"/>
              </a:solidFill>
              <a:latin typeface="Google Sans Medium"/>
              <a:ea typeface="Google Sans Medium"/>
              <a:cs typeface="Google Sans Medium"/>
              <a:sym typeface="Google Sans Medium"/>
            </a:endParaRPr>
          </a:p>
          <a:p>
            <a:r>
              <a:rPr lang="en-US" sz="2500" b="1" i="1" dirty="0"/>
              <a:t>Geospatial Processing Ecosystem:</a:t>
            </a:r>
            <a:r>
              <a:rPr lang="en-US" sz="2500" i="1" dirty="0"/>
              <a:t> </a:t>
            </a:r>
            <a:r>
              <a:rPr lang="en-US" sz="2500" dirty="0"/>
              <a:t>Google Earth Engine (GEE) Python API &amp; Planetary Computer for scalable processing of multi-temporal satellite records; </a:t>
            </a:r>
            <a:r>
              <a:rPr lang="en-US" sz="2500" dirty="0" err="1"/>
              <a:t>Rasterio</a:t>
            </a:r>
            <a:r>
              <a:rPr lang="en-US" sz="2500" dirty="0"/>
              <a:t>, </a:t>
            </a:r>
            <a:r>
              <a:rPr lang="en-US" sz="2500" dirty="0" err="1"/>
              <a:t>GeoPandas</a:t>
            </a:r>
            <a:r>
              <a:rPr lang="en-US" sz="2500" dirty="0"/>
              <a:t>, and Shapely for managing localized municipal vector layouts.</a:t>
            </a:r>
            <a:br>
              <a:rPr lang="en-US" sz="2500" dirty="0"/>
            </a:br>
            <a:endParaRPr lang="en-US" sz="2500" dirty="0"/>
          </a:p>
          <a:p>
            <a:r>
              <a:rPr lang="en-US" sz="2500" b="1" i="1" dirty="0"/>
              <a:t>Physics-ML Modeling Core:</a:t>
            </a:r>
            <a:r>
              <a:rPr lang="en-US" sz="2500" i="1" dirty="0"/>
              <a:t> </a:t>
            </a:r>
            <a:r>
              <a:rPr lang="en-US" sz="2500" dirty="0" err="1"/>
              <a:t>DeepXDE</a:t>
            </a:r>
            <a:r>
              <a:rPr lang="en-US" sz="2500" dirty="0"/>
              <a:t> (a specialized library for Physics-Informed Neural Networks) layered over a </a:t>
            </a:r>
            <a:r>
              <a:rPr lang="en-US" sz="2500" dirty="0" err="1"/>
              <a:t>PyTorch</a:t>
            </a:r>
            <a:r>
              <a:rPr lang="en-US" sz="2500" dirty="0"/>
              <a:t>/TensorFlow framework to handle customized thermodynamic loss tracking.</a:t>
            </a:r>
            <a:br>
              <a:rPr lang="en-US" sz="2500" dirty="0"/>
            </a:br>
            <a:endParaRPr lang="en-US" sz="2500" dirty="0"/>
          </a:p>
          <a:p>
            <a:r>
              <a:rPr lang="en-US" sz="2500" b="1" i="1" dirty="0"/>
              <a:t>Explainable AI Integration:</a:t>
            </a:r>
            <a:r>
              <a:rPr lang="en-US" sz="2500" i="1" dirty="0"/>
              <a:t> </a:t>
            </a:r>
            <a:r>
              <a:rPr lang="en-US" sz="2500" dirty="0"/>
              <a:t>SHAP (</a:t>
            </a:r>
            <a:r>
              <a:rPr lang="en-US" sz="2500" dirty="0" err="1"/>
              <a:t>SHapley</a:t>
            </a:r>
            <a:r>
              <a:rPr lang="en-US" sz="2500" dirty="0"/>
              <a:t> Additive </a:t>
            </a:r>
            <a:r>
              <a:rPr lang="en-US" sz="2500" dirty="0" err="1"/>
              <a:t>exPlanations</a:t>
            </a:r>
            <a:r>
              <a:rPr lang="en-US" sz="2500" dirty="0"/>
              <a:t>) algorithm arrays for mathematical factor isolation and driver weighting calculations.</a:t>
            </a:r>
            <a:br>
              <a:rPr lang="en-US" sz="2500" dirty="0"/>
            </a:br>
            <a:endParaRPr lang="en-US" sz="2500" i="1" dirty="0"/>
          </a:p>
          <a:p>
            <a:r>
              <a:rPr lang="en-US" sz="2500" b="1" i="1" dirty="0"/>
              <a:t>System Backbone &amp; Infrastructure:</a:t>
            </a:r>
            <a:r>
              <a:rPr lang="en-US" sz="2500" i="1" dirty="0"/>
              <a:t> </a:t>
            </a:r>
            <a:r>
              <a:rPr lang="en-US" sz="2500" dirty="0"/>
              <a:t>Flask/Python environment for local server routing, integrated with structured JSON engines to cache multi-city analytical configurations.</a:t>
            </a:r>
            <a:br>
              <a:rPr lang="en-US" sz="2500" dirty="0"/>
            </a:br>
            <a:endParaRPr lang="en-US" sz="2500" dirty="0"/>
          </a:p>
          <a:p>
            <a:r>
              <a:rPr lang="en-US" sz="2500" b="1" i="1" dirty="0"/>
              <a:t>Interface &amp; Graphics Engine:</a:t>
            </a:r>
            <a:r>
              <a:rPr lang="en-US" sz="2500" i="1" dirty="0"/>
              <a:t> </a:t>
            </a:r>
            <a:r>
              <a:rPr lang="en-US" sz="2500" dirty="0"/>
              <a:t>Vite + React (Next.js) bundled with </a:t>
            </a:r>
            <a:r>
              <a:rPr lang="en-US" sz="2500" dirty="0" err="1"/>
              <a:t>TailwindCSS</a:t>
            </a:r>
            <a:r>
              <a:rPr lang="en-US" sz="2500" dirty="0"/>
              <a:t> for layout management, and </a:t>
            </a:r>
            <a:r>
              <a:rPr lang="en-US" sz="2500" dirty="0" err="1"/>
              <a:t>Mapbox</a:t>
            </a:r>
            <a:r>
              <a:rPr lang="en-US" sz="2500" dirty="0"/>
              <a:t> GL JS (or deck.gl) to handle high-performance geospatial data visualization overlays.</a:t>
            </a:r>
          </a:p>
          <a:p>
            <a:pPr marL="0" marR="0" lvl="0" indent="0" algn="l" rtl="0">
              <a:lnSpc>
                <a:spcPct val="115000"/>
              </a:lnSpc>
              <a:spcBef>
                <a:spcPts val="1200"/>
              </a:spcBef>
              <a:spcAft>
                <a:spcPts val="1200"/>
              </a:spcAft>
              <a:buClr>
                <a:srgbClr val="000000"/>
              </a:buClr>
              <a:buSzPts val="1600"/>
              <a:buFont typeface="Arial"/>
              <a:buNone/>
            </a:pPr>
            <a:endParaRPr sz="1600" b="0" i="0" u="none" strike="noStrike" cap="none" dirty="0">
              <a:solidFill>
                <a:schemeClr val="dk1"/>
              </a:solidFill>
              <a:latin typeface="Google Sans Medium"/>
              <a:ea typeface="Google Sans Medium"/>
              <a:cs typeface="Google Sans Medium"/>
              <a:sym typeface="Google Sans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21" title="wswswsw33d3d.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6" name="Google Shape;106;p21"/>
          <p:cNvSpPr txBox="1"/>
          <p:nvPr/>
        </p:nvSpPr>
        <p:spPr>
          <a:xfrm>
            <a:off x="311700" y="863550"/>
            <a:ext cx="7569300" cy="25701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Clr>
                <a:srgbClr val="000000"/>
              </a:buClr>
              <a:buSzPts val="1600"/>
              <a:buFont typeface="Arial"/>
              <a:buNone/>
            </a:pPr>
            <a:r>
              <a:rPr lang="en-GB" sz="1600" b="0" i="0" u="none" strike="noStrike" cap="none" dirty="0">
                <a:solidFill>
                  <a:schemeClr val="dk1"/>
                </a:solidFill>
                <a:latin typeface="Google Sans Medium"/>
                <a:ea typeface="Google Sans Medium"/>
                <a:cs typeface="Google Sans Medium"/>
                <a:sym typeface="Google Sans Medium"/>
              </a:rPr>
              <a:t>Estimated implementation cost (optional):</a:t>
            </a:r>
            <a:endParaRPr sz="1600" b="0" i="0" u="none" strike="noStrike" cap="none" dirty="0">
              <a:solidFill>
                <a:schemeClr val="dk1"/>
              </a:solidFill>
              <a:latin typeface="Google Sans Medium"/>
              <a:ea typeface="Google Sans Medium"/>
              <a:cs typeface="Google Sans Medium"/>
              <a:sym typeface="Google Sans Medium"/>
            </a:endParaRPr>
          </a:p>
          <a:p>
            <a:pPr marL="0" marR="0" lvl="0" indent="0" algn="l" rtl="0">
              <a:lnSpc>
                <a:spcPct val="115000"/>
              </a:lnSpc>
              <a:spcBef>
                <a:spcPts val="1200"/>
              </a:spcBef>
              <a:spcAft>
                <a:spcPts val="1200"/>
              </a:spcAft>
              <a:buClr>
                <a:srgbClr val="000000"/>
              </a:buClr>
              <a:buSzPts val="1600"/>
              <a:buFont typeface="Arial"/>
              <a:buNone/>
            </a:pPr>
            <a:endParaRPr sz="1600" b="0" i="0" u="none" strike="noStrike" cap="none" dirty="0">
              <a:solidFill>
                <a:schemeClr val="dk1"/>
              </a:solidFill>
              <a:latin typeface="Google Sans Medium"/>
              <a:ea typeface="Google Sans Medium"/>
              <a:cs typeface="Google Sans Medium"/>
              <a:sym typeface="Google Sans Medium"/>
            </a:endParaRPr>
          </a:p>
        </p:txBody>
      </p:sp>
      <p:graphicFrame>
        <p:nvGraphicFramePr>
          <p:cNvPr id="2" name="Table 1">
            <a:extLst>
              <a:ext uri="{FF2B5EF4-FFF2-40B4-BE49-F238E27FC236}">
                <a16:creationId xmlns:a16="http://schemas.microsoft.com/office/drawing/2014/main" id="{6D0C0220-CD3B-B51C-B753-624934C5C250}"/>
              </a:ext>
            </a:extLst>
          </p:cNvPr>
          <p:cNvGraphicFramePr>
            <a:graphicFrameLocks noGrp="1"/>
          </p:cNvGraphicFramePr>
          <p:nvPr>
            <p:extLst>
              <p:ext uri="{D42A27DB-BD31-4B8C-83A1-F6EECF244321}">
                <p14:modId xmlns:p14="http://schemas.microsoft.com/office/powerpoint/2010/main" val="2108670902"/>
              </p:ext>
            </p:extLst>
          </p:nvPr>
        </p:nvGraphicFramePr>
        <p:xfrm>
          <a:off x="310599" y="1355354"/>
          <a:ext cx="8521701" cy="3281680"/>
        </p:xfrm>
        <a:graphic>
          <a:graphicData uri="http://schemas.openxmlformats.org/drawingml/2006/table">
            <a:tbl>
              <a:tblPr/>
              <a:tblGrid>
                <a:gridCol w="2840567">
                  <a:extLst>
                    <a:ext uri="{9D8B030D-6E8A-4147-A177-3AD203B41FA5}">
                      <a16:colId xmlns:a16="http://schemas.microsoft.com/office/drawing/2014/main" val="1125916463"/>
                    </a:ext>
                  </a:extLst>
                </a:gridCol>
                <a:gridCol w="2840567">
                  <a:extLst>
                    <a:ext uri="{9D8B030D-6E8A-4147-A177-3AD203B41FA5}">
                      <a16:colId xmlns:a16="http://schemas.microsoft.com/office/drawing/2014/main" val="425580562"/>
                    </a:ext>
                  </a:extLst>
                </a:gridCol>
                <a:gridCol w="2840567">
                  <a:extLst>
                    <a:ext uri="{9D8B030D-6E8A-4147-A177-3AD203B41FA5}">
                      <a16:colId xmlns:a16="http://schemas.microsoft.com/office/drawing/2014/main" val="2227332815"/>
                    </a:ext>
                  </a:extLst>
                </a:gridCol>
              </a:tblGrid>
              <a:tr h="151591">
                <a:tc>
                  <a:txBody>
                    <a:bodyPr/>
                    <a:lstStyle/>
                    <a:p>
                      <a:pPr>
                        <a:buNone/>
                      </a:pPr>
                      <a:r>
                        <a:rPr lang="en-US" sz="1400" b="1">
                          <a:effectLst/>
                          <a:latin typeface="Google Sans Text"/>
                        </a:rPr>
                        <a:t>System Component</a:t>
                      </a:r>
                      <a:endParaRPr lang="en-US" sz="1400">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b="1">
                          <a:effectLst/>
                          <a:latin typeface="Google Sans Text"/>
                        </a:rPr>
                        <a:t>Resource Allocation Structure</a:t>
                      </a:r>
                      <a:endParaRPr lang="en-US" sz="1400">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b="1">
                          <a:effectLst/>
                          <a:latin typeface="Google Sans Text"/>
                        </a:rPr>
                        <a:t>Financial Footprint</a:t>
                      </a:r>
                      <a:endParaRPr lang="en-US" sz="1400">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317514397"/>
                  </a:ext>
                </a:extLst>
              </a:tr>
              <a:tr h="741680">
                <a:tc>
                  <a:txBody>
                    <a:bodyPr/>
                    <a:lstStyle/>
                    <a:p>
                      <a:pPr>
                        <a:buNone/>
                      </a:pPr>
                      <a:r>
                        <a:rPr lang="en-US" sz="1400" b="1">
                          <a:effectLst/>
                          <a:latin typeface="Google Sans Text"/>
                        </a:rPr>
                        <a:t>Data Pipelines</a:t>
                      </a:r>
                      <a:endParaRPr lang="en-US" sz="1400">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a:effectLst/>
                          <a:latin typeface="Google Sans Text"/>
                        </a:rPr>
                        <a:t>Optimized data assembly via open-access cloud nodes (GEE/Planetary Computer Hubs).</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a:effectLst/>
                          <a:latin typeface="Google Sans Text"/>
                        </a:rPr>
                        <a:t>₹0 (Open Source)</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219912862"/>
                  </a:ext>
                </a:extLst>
              </a:tr>
              <a:tr h="741680">
                <a:tc>
                  <a:txBody>
                    <a:bodyPr/>
                    <a:lstStyle/>
                    <a:p>
                      <a:pPr>
                        <a:buNone/>
                      </a:pPr>
                      <a:r>
                        <a:rPr lang="en-US" sz="1400" b="1">
                          <a:effectLst/>
                          <a:latin typeface="Google Sans Text"/>
                        </a:rPr>
                        <a:t>Model Development</a:t>
                      </a:r>
                      <a:endParaRPr lang="en-US" sz="1400">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a:effectLst/>
                          <a:latin typeface="Google Sans Text"/>
                        </a:rPr>
                        <a:t>Model design using open framework architectures (DeepXDE / PyTorch / SHAP).</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a:effectLst/>
                          <a:latin typeface="Google Sans Text"/>
                        </a:rPr>
                        <a:t>₹0 (Academic Free-Tier)</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15409409"/>
                  </a:ext>
                </a:extLst>
              </a:tr>
              <a:tr h="741680">
                <a:tc>
                  <a:txBody>
                    <a:bodyPr/>
                    <a:lstStyle/>
                    <a:p>
                      <a:pPr>
                        <a:buNone/>
                      </a:pPr>
                      <a:r>
                        <a:rPr lang="en-US" sz="1400" b="1">
                          <a:effectLst/>
                          <a:latin typeface="Google Sans Text"/>
                        </a:rPr>
                        <a:t>System Interface</a:t>
                      </a:r>
                      <a:endParaRPr lang="en-US" sz="1400">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a:effectLst/>
                          <a:latin typeface="Google Sans Text"/>
                        </a:rPr>
                        <a:t>System layout built using web components (Next.js / Mapbox GL JS).</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a:effectLst/>
                          <a:latin typeface="Google Sans Text"/>
                        </a:rPr>
                        <a:t>₹0 (Developer License)</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19682036"/>
                  </a:ext>
                </a:extLst>
              </a:tr>
              <a:tr h="741680">
                <a:tc>
                  <a:txBody>
                    <a:bodyPr/>
                    <a:lstStyle/>
                    <a:p>
                      <a:pPr>
                        <a:buNone/>
                      </a:pPr>
                      <a:r>
                        <a:rPr lang="en-US" sz="1400" b="1">
                          <a:effectLst/>
                          <a:latin typeface="Google Sans Text"/>
                        </a:rPr>
                        <a:t>Deployment Footprint</a:t>
                      </a:r>
                      <a:endParaRPr lang="en-US" sz="1400">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a:effectLst/>
                          <a:latin typeface="Google Sans Text"/>
                        </a:rPr>
                        <a:t>Designed for straightforward local setup or standard municipal server node hosting.</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a:buNone/>
                      </a:pPr>
                      <a:r>
                        <a:rPr lang="en-US" sz="1400" dirty="0">
                          <a:effectLst/>
                          <a:latin typeface="Google Sans Text"/>
                        </a:rPr>
                        <a:t>Minimal Operational Cost</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0097116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2" title="wswswswdwdww33d3d.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1648</TotalTime>
  <Words>709</Words>
  <Application>Microsoft Office PowerPoint</Application>
  <PresentationFormat>On-screen Show (16:9)</PresentationFormat>
  <Paragraphs>62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Google Sans Text</vt:lpstr>
      <vt:lpstr>Arial</vt:lpstr>
      <vt:lpstr>Google Sans Medium</vt:lpstr>
      <vt:lpstr>Google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mohammedsalmanfawaz@gmail.com</cp:lastModifiedBy>
  <cp:revision>3</cp:revision>
  <dcterms:modified xsi:type="dcterms:W3CDTF">2026-06-29T15:03:19Z</dcterms:modified>
</cp:coreProperties>
</file>